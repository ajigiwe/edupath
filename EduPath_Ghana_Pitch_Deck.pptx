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Poppins"/>
              </a:defRPr>
            </a:pPr>
            <a:r>
              <a:t>EduPath Ghana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CCDD"/>
                </a:solidFill>
                <a:latin typeface="Inter"/>
              </a:defRPr>
            </a:pPr>
            <a:r>
              <a:t>Empowering Senior High School Graduates and University</a:t>
            </a:r>
            <a:br/>
            <a:r>
              <a:t>Freshmen in Ghana to Navigate Admission, Academics, and Career Success.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97680"/>
            <a:ext cx="27432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2410C"/>
                </a:solidFill>
                <a:latin typeface="Inter"/>
              </a:defRPr>
            </a:pPr>
            <a:r>
              <a:t>www.edupathghana.com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Poppins"/>
              </a:defRPr>
            </a:pPr>
            <a:r>
              <a:t>The Transition Problem in Ghana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2410C"/>
                </a:solidFill>
                <a:latin typeface="Poppins"/>
              </a:defRPr>
            </a:pPr>
            <a:r>
              <a:t>Information &amp; Admission Deficit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6B7280"/>
                </a:solidFill>
                <a:latin typeface="Inter"/>
              </a:defRPr>
            </a:pPr>
            <a:r>
              <a:t>The Reality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Every year, thousands of Ghanaian SHS graduates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face intense rejection from universities like UG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and KNUST simply because they lack clear,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structured information regarding required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aggregate grades and specific cut-off points.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6B7280"/>
                </a:solidFill>
                <a:latin typeface="Inter"/>
              </a:defRPr>
            </a:pPr>
            <a:r>
              <a:t>Impact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Wasted application fees, delayed education,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and misplaced career aspirations.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36576" cy="41148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2410C"/>
                </a:solidFill>
                <a:latin typeface="Poppins"/>
              </a:defRPr>
            </a:pPr>
            <a:r>
              <a:t>Academic &amp; Resource Scarcity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6B7280"/>
                </a:solidFill>
                <a:latin typeface="Inter"/>
              </a:defRPr>
            </a:pPr>
            <a:r>
              <a:t>The Reality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Even after securing entry, enrolled students lack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accessible study materials — syllabi, past questions,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research guides. They are forced to start blind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without adequate resources to learn ahead or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construct clear academic and career plans.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</a:p>
          <a:p>
            <a:pPr algn="l">
              <a:spcAft>
                <a:spcPts val="600"/>
              </a:spcAft>
              <a:defRPr sz="1400" b="1">
                <a:solidFill>
                  <a:srgbClr val="6B7280"/>
                </a:solidFill>
                <a:latin typeface="Inter"/>
              </a:defRPr>
            </a:pPr>
            <a:r>
              <a:t>Impact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High dropout rates, poor academic performance,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F2937"/>
                </a:solidFill>
                <a:latin typeface="Inter"/>
              </a:defRPr>
            </a:pPr>
            <a:r>
              <a:t>and under-prepared graduates entering the workforce.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486400"/>
            <a:ext cx="320040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532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2410C"/>
                </a:solidFill>
                <a:latin typeface="Poppins"/>
              </a:defRPr>
            </a:pPr>
            <a:r>
              <a:t>400K+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943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Poppins"/>
              </a:defRPr>
            </a:pPr>
            <a:r>
              <a:t>WASSCE candidates</a:t>
            </a:r>
            <a:br/>
            <a:r>
              <a:t>annually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5486400"/>
            <a:ext cx="320040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5532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2410C"/>
                </a:solidFill>
                <a:latin typeface="Poppins"/>
              </a:defRPr>
            </a:pPr>
            <a:r>
              <a:t>60%+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943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Poppins"/>
              </a:defRPr>
            </a:pPr>
            <a:r>
              <a:t>Students lack access</a:t>
            </a:r>
            <a:br/>
            <a:r>
              <a:t>to past 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5486400"/>
            <a:ext cx="320040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5532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2410C"/>
                </a:solidFill>
                <a:latin typeface="Poppins"/>
              </a:defRPr>
            </a:pPr>
            <a:r>
              <a:t>30%+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943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Poppins"/>
              </a:defRPr>
            </a:pPr>
            <a:r>
              <a:t>Freshmen drop out</a:t>
            </a:r>
            <a:br/>
            <a:r>
              <a:t>in first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Poppins"/>
              </a:defRPr>
            </a:pPr>
            <a:r>
              <a:t>Who Is Affected by This Crisis?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0040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920240"/>
            <a:ext cx="1188720" cy="11887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920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Poppins"/>
              </a:defRPr>
            </a:pPr>
            <a: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Poppins"/>
              </a:defRPr>
            </a:pPr>
            <a:r>
              <a:t>WASSCE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9319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  <a:latin typeface="Poppins"/>
              </a:defRPr>
            </a:pPr>
            <a:r>
              <a:t>Over 400,000 students annually trying to decode competitive aggregates.</a:t>
            </a:r>
            <a:br/>
            <a:br/>
            <a:r>
              <a:t>Example: KNUST Medicine requires aggregate 6 — most students don't know this before applying.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320040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77840" y="1920240"/>
            <a:ext cx="1188720" cy="11887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920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Poppins"/>
              </a:defRPr>
            </a:pPr>
            <a: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Poppins"/>
              </a:defRPr>
            </a:pPr>
            <a:r>
              <a:t>University Freshmen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9319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  <a:latin typeface="Poppins"/>
              </a:defRPr>
            </a:pPr>
            <a:r>
              <a:t>Students entering higher learning without pre-study resources or foundational course outlines.</a:t>
            </a:r>
            <a:br/>
            <a:br/>
            <a:r>
              <a:t>They navigate blindly through their first year with limited guidance.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200400" cy="4389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1920240"/>
            <a:ext cx="1188720" cy="11887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920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Poppins"/>
              </a:defRPr>
            </a:pPr>
            <a:r>
              <a:t>👨‍👩‍👧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A5F"/>
                </a:solidFill>
                <a:latin typeface="Poppins"/>
              </a:defRPr>
            </a:pPr>
            <a:r>
              <a:t>Anxious Parents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93192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F2937"/>
                </a:solidFill>
                <a:latin typeface="Poppins"/>
              </a:defRPr>
            </a:pPr>
            <a:r>
              <a:t>Financially burdened guardians funding speculative admissions without strategic predictability.</a:t>
            </a:r>
            <a:br/>
            <a:br/>
            <a:r>
              <a:t>They pay fees and WAEC checker costs without knowing their ward's real chances.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Poppins"/>
              </a:defRPr>
            </a:pPr>
            <a:r>
              <a:t>Our Python-Powered Platform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004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1920240"/>
            <a:ext cx="822960" cy="82296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9202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  <a:latin typeface="Poppins"/>
              </a:defRPr>
            </a:pPr>
            <a:r>
              <a:t>Cut-Off 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576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Poppins"/>
              </a:defRPr>
            </a:pPr>
            <a:r>
              <a:t>Instantly calculates admission eligibility using exact school grading equations. No more guessing — students enter grades and see real-time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32004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920240"/>
            <a:ext cx="822960" cy="82296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9202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  <a:latin typeface="Poppins"/>
              </a:defRPr>
            </a:pPr>
            <a:r>
              <a:t>Career Pathfinder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6576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Poppins"/>
              </a:defRPr>
            </a:pPr>
            <a:r>
              <a:t>Maps desired careers back to specific university program alternatives in Ghana, aligned with student performance and interests.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2004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0" y="1920240"/>
            <a:ext cx="822960" cy="82296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Poppi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  <a:latin typeface="Poppins"/>
              </a:defRPr>
            </a:pPr>
            <a:r>
              <a:t>Academic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6576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Poppins"/>
              </a:defRPr>
            </a:pPr>
            <a:r>
              <a:t>Curated repository containing past exams, standard thesis formats, and introductory research guidance for continuous academic support.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Inter"/>
              </a:defRPr>
            </a:pPr>
            <a:r>
              <a:t>All powered by a smart recommendation engine with WAEC grade mapping and program fit scoring.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oppins"/>
              </a:defRPr>
            </a:pPr>
            <a:r>
              <a:t>Identifying Our Core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004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Poppins"/>
              </a:defRPr>
            </a:pPr>
            <a:r>
              <a:t>Free Tier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oppins"/>
              </a:defRPr>
            </a:pPr>
            <a:r>
              <a:t>Secondary school graduates and university</a:t>
            </a:r>
            <a:br/>
            <a:r>
              <a:t>freshmen accessing basic admission calculators</a:t>
            </a:r>
            <a:br/>
            <a:r>
              <a:t>and public forum spaces at no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32004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3200400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2410C"/>
                </a:solidFill>
                <a:latin typeface="Poppins"/>
              </a:defRPr>
            </a:pPr>
            <a:r>
              <a:t>Premium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oppins"/>
              </a:defRPr>
            </a:pPr>
            <a:r>
              <a:t>Students and supportive parents who pay</a:t>
            </a:r>
            <a:br/>
            <a:r>
              <a:t>for targeted exam mock sets and live career</a:t>
            </a:r>
            <a:br/>
            <a:r>
              <a:t>mentorship sessions.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3200400" cy="4114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2004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116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Poppins"/>
              </a:defRPr>
            </a:pPr>
            <a:r>
              <a:t>B2B School 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Poppins"/>
              </a:defRPr>
            </a:pPr>
            <a:r>
              <a:t>High schools and private colleges subscribing</a:t>
            </a:r>
            <a:br/>
            <a:r>
              <a:t>to modern aggregate analytics and showcase</a:t>
            </a:r>
            <a:br/>
            <a:r>
              <a:t>services for their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Poppins"/>
              </a:defRPr>
            </a:pPr>
            <a:r>
              <a:t>Our Diversified Revenue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0040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32004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oppins"/>
              </a:defRPr>
            </a:pPr>
            <a:r>
              <a:t>Subscription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Poppins"/>
              </a:defRPr>
            </a:pPr>
            <a:r>
              <a:t>Monthly and yearly plans with feature gating.</a:t>
            </a:r>
            <a:br/>
            <a:r>
              <a:t>4 tiers designed for every segment — Free to Premium Pro (GHS 70/mo).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320040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32004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oppins"/>
              </a:defRPr>
            </a:pPr>
            <a:r>
              <a:t>B2B 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860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Poppins"/>
              </a:defRPr>
            </a:pPr>
            <a:r>
              <a:t>High schools and private colleges pay annual fees for aggregate analytics, student performance data, and customized dashboards.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3200400" cy="34747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2004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Poppins"/>
              </a:defRPr>
            </a:pPr>
            <a:r>
              <a:t>Exam Mock 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Poppins"/>
              </a:defRPr>
            </a:pPr>
            <a:r>
              <a:t>One-time purchase of targeted mock exam packs for WASSCE and university entrance preparation. Premium add-on for all users.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486400"/>
            <a:ext cx="2286000" cy="10058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806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Poppins"/>
              </a:defRPr>
            </a:pPr>
            <a:r>
              <a:t>GHS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6035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Poppins"/>
              </a:defRPr>
            </a:pPr>
            <a:r>
              <a:t>Basic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5486400"/>
            <a:ext cx="2286000" cy="1005840"/>
          </a:xfrm>
          <a:prstGeom prst="rect">
            <a:avLst/>
          </a:prstGeom>
          <a:solidFill>
            <a:srgbClr val="2C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Freemium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5806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Poppins"/>
              </a:defRPr>
            </a:pPr>
            <a:r>
              <a:t>GHS 15/mo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6035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Poppins"/>
              </a:defRPr>
            </a:pPr>
            <a:r>
              <a:t>Calculators + forum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486400"/>
            <a:ext cx="2286000" cy="1005840"/>
          </a:xfrm>
          <a:prstGeom prst="rect">
            <a:avLst/>
          </a:prstGeom>
          <a:solidFill>
            <a:srgbClr val="2C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Premium Basic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806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Poppins"/>
              </a:defRPr>
            </a:pPr>
            <a:r>
              <a:t>GHS 40/mo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6035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Poppins"/>
              </a:defRPr>
            </a:pPr>
            <a:r>
              <a:t>Mock sets + mentorship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59" y="5486400"/>
            <a:ext cx="2286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19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oppins"/>
              </a:defRPr>
            </a:pPr>
            <a:r>
              <a:t>Premium Pro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19" y="5806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Poppins"/>
              </a:defRPr>
            </a:pPr>
            <a:r>
              <a:t>GHS 70/mo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6035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AABB"/>
                </a:solidFill>
                <a:latin typeface="Poppins"/>
              </a:defRPr>
            </a:pPr>
            <a:r>
              <a:t>Full suite + priority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Poppins"/>
              </a:defRPr>
            </a:pPr>
            <a:r>
              <a:t>Projected Revenue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5532120"/>
            <a:ext cx="1828800" cy="1371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2410C"/>
                </a:solidFill>
                <a:latin typeface="Poppins"/>
              </a:defRPr>
            </a:pPr>
            <a:r>
              <a:t>GHS 15,000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Poppins"/>
              </a:defRPr>
            </a:pPr>
            <a: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oppins"/>
              </a:defRPr>
            </a:pPr>
            <a:r>
              <a:t>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40" y="5257800"/>
            <a:ext cx="1828800" cy="411479"/>
          </a:xfrm>
          <a:prstGeom prst="rect">
            <a:avLst/>
          </a:prstGeom>
          <a:solidFill>
            <a:srgbClr val="2C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800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4F7A"/>
                </a:solidFill>
                <a:latin typeface="Poppins"/>
              </a:defRPr>
            </a:pPr>
            <a:r>
              <a:t>GHS 45,000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806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Poppins"/>
              </a:defRPr>
            </a:pPr>
            <a:r>
              <a:t>Year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oppins"/>
              </a:defRPr>
            </a:pPr>
            <a:r>
              <a:t>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4572000"/>
            <a:ext cx="18288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Poppins"/>
              </a:defRPr>
            </a:pPr>
            <a:r>
              <a:t>GHS 120,000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806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Poppins"/>
              </a:defRPr>
            </a:pPr>
            <a:r>
              <a:t>Year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oppins"/>
              </a:defRPr>
            </a:pPr>
            <a:r>
              <a:t>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2468880"/>
            <a:ext cx="1828800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Poppins"/>
              </a:defRPr>
            </a:pPr>
            <a:r>
              <a:t>GHS 350,000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5806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Poppins"/>
              </a:defRPr>
            </a:pPr>
            <a:r>
              <a:t>Year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080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Poppins"/>
              </a:defRPr>
            </a:pPr>
            <a:r>
              <a:t>Mature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Inter"/>
              </a:defRPr>
            </a:pPr>
            <a:r>
              <a:t>Expansion in paid subscriptions and nationwide high school B2B contracts will serve as primary scale levers across urban hubs in Ghana.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Poppins"/>
              </a:defRPr>
            </a:pPr>
            <a:r>
              <a:t>Our Go-to-Market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3246120"/>
            <a:ext cx="9418320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2880360"/>
            <a:ext cx="731520" cy="7315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880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Q1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237744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39" y="22402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Poppins"/>
              </a:defRPr>
            </a:pPr>
            <a:r>
              <a:t>SHS Outreach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39" y="265176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Poppins"/>
              </a:defRPr>
            </a:pPr>
            <a:r>
              <a:t>Conduct informational roadshows across major high schools in Accra and Kumasi. Build awareness through direct student engagement.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880360"/>
            <a:ext cx="731520" cy="7315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80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3657600"/>
            <a:ext cx="237744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Poppins"/>
              </a:defRPr>
            </a:pPr>
            <a:r>
              <a:t>Social Campaign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420624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Poppins"/>
              </a:defRPr>
            </a:pPr>
            <a:r>
              <a:t>Partner with micro-influencers and student content creators on TikTok &amp; WhatsApp. Drive viral organic growth.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2880360"/>
            <a:ext cx="731520" cy="7315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880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Q3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103120"/>
            <a:ext cx="237744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2402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Poppins"/>
              </a:defRPr>
            </a:pPr>
            <a:r>
              <a:t>Campus Alliances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5176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Poppins"/>
              </a:defRPr>
            </a:pPr>
            <a:r>
              <a:t>Partner with University Student Representative Councils (SRCs) during freshers orientation. Onboard thousands at scale.</a:t>
            </a:r>
          </a:p>
        </p:txBody>
      </p:sp>
      <p:sp>
        <p:nvSpPr>
          <p:cNvPr id="21" name="Oval 20"/>
          <p:cNvSpPr/>
          <p:nvPr/>
        </p:nvSpPr>
        <p:spPr>
          <a:xfrm>
            <a:off x="10149840" y="2880360"/>
            <a:ext cx="731520" cy="7315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880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Q4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657600"/>
            <a:ext cx="2377440" cy="2286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Poppins"/>
              </a:defRPr>
            </a:pPr>
            <a:r>
              <a:t>SEO &amp; Blogs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20624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Poppins"/>
              </a:defRPr>
            </a:pPr>
            <a:r>
              <a:t>Provide comprehensive online aggregate lookup tables to drive steady, high-intent Google search traffic year-round.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Poppins"/>
              </a:defRPr>
            </a:pPr>
            <a:r>
              <a:t>Our Customer Retention Mechanisms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37160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50292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73152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Poppins"/>
              </a:defRPr>
            </a:pPr>
            <a:r>
              <a:t>Gamified Coursework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488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Poppins"/>
              </a:defRPr>
            </a:pPr>
            <a:r>
              <a:t>Keep students motivated by tracking pre-university course completion with digital credential badges and progress milestones.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0292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73152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Poppins"/>
              </a:defRPr>
            </a:pPr>
            <a:r>
              <a:t>Interactive Community Forums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Poppins"/>
              </a:defRPr>
            </a:pPr>
            <a:r>
              <a:t>Tailor discussions based on target universities (e.g., KNUST Engineering or UG Legon Business) to maintain active peer dialogue.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40480"/>
            <a:ext cx="50292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840480"/>
            <a:ext cx="73152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069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Poppins"/>
              </a:defRPr>
            </a:pPr>
            <a:r>
              <a:t>Continuous Alumni Mentoring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262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Poppins"/>
              </a:defRPr>
            </a:pPr>
            <a:r>
              <a:t>Connect junior students with experienced seniors on campus for real-time tips, syllabi review, and tutoring support.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0292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69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Poppins"/>
              </a:defRPr>
            </a:pPr>
            <a:r>
              <a:t>Dynamic Resource Updating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2628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Poppins"/>
              </a:defRPr>
            </a:pPr>
            <a:r>
              <a:t>Constantly refresh past questions and project guides, expanding user lifespan from entry up through graduation.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Poppins"/>
              </a:defRPr>
            </a:pPr>
            <a:r>
              <a:t>Questions &amp;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834640"/>
            <a:ext cx="2103120" cy="548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Inter"/>
              </a:defRPr>
            </a:pPr>
            <a:r>
              <a:t>Join us in guiding the next generation of Ghanaian scholars</a:t>
            </a:r>
            <a:br/>
            <a:r>
              <a:t>towards university and career milestones.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2410C"/>
                </a:solidFill>
                <a:latin typeface="Poppins"/>
              </a:defRPr>
            </a:pPr>
            <a:r>
              <a:t>www.edupathghana.com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AABB"/>
                </a:solidFill>
                <a:latin typeface="Inter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